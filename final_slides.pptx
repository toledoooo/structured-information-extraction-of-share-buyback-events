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://www.cninfo.com.cn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stockcake.com/public/4/0/9/409139d2-d60c-4d7f-918c-6179b83e072d_large/digital-financial-flow-stockcake.jpg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252F">
                  <a:alpha val="90000"/>
                </a:srgbClr>
              </a:gs>
              <a:gs pos="55000">
                <a:srgbClr val="1A252F">
                  <a:alpha val="85000"/>
                </a:srgbClr>
              </a:gs>
              <a:gs pos="100000">
                <a:srgbClr val="1A252F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400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结构化信息抽取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2794000"/>
            <a:ext cx="8890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上市公司股份回购公告</a:t>
            </a:r>
            <a:endParaRPr lang="en-US" sz="3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en-US" sz="3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要素结构化抽取与多阶段事件时间线构建</a:t>
            </a:r>
            <a:endParaRPr lang="en-US" sz="3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2000" y="5080000"/>
            <a:ext cx="1016000" cy="381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7" name="Text 4"/>
          <p:cNvSpPr/>
          <p:nvPr/>
        </p:nvSpPr>
        <p:spPr>
          <a:xfrm>
            <a:off x="762000" y="5334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第六组：杨浩彬 王震昀 闵云开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2000" y="78740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巨潮资讯网 · 50家公司 · 147 </a:t>
            </a:r>
            <a:r>
              <a:rPr lang="en-US" sz="1400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份公告</a:t>
            </a:r>
            <a:r>
              <a:rPr lang="en-US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 · 1.1挑战档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B85C38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金融问题与研究目标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A股上市公司股份回购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是上市公司进行市值管理、优化资本结构、实施股权激励的重要工具。同一回购事项通常经历</a:t>
            </a:r>
            <a:r>
              <a:rPr lang="en-US" sz="18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方案 → 进展 → 结果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三个阶段的公告披露，分散在不同时间点的PDF文档中。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159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三大核心目标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730500"/>
            <a:ext cx="4572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2984500"/>
            <a:ext cx="6985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01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78000" y="2984500"/>
            <a:ext cx="3302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要素结构化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6000" y="3619500"/>
            <a:ext cx="406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从回购方案公告中自动抽取回购方式、资金总额、价格上限/下限、实施期限、资金来源、回购用途等关键条款，降低人工阅读成本。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42000" y="2730500"/>
            <a:ext cx="4572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0" y="2984500"/>
            <a:ext cx="8255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02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48500" y="2984500"/>
            <a:ext cx="31115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多阶段事件匹配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0" y="3619500"/>
            <a:ext cx="406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将同一回购事项的方案、进展、结果公告关联为完整事件时间线，追踪从预案到完成的实际执行偏差。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22000" y="2730500"/>
            <a:ext cx="4572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76000" y="2984500"/>
            <a:ext cx="8255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03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128500" y="2984500"/>
            <a:ext cx="31115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执行偏差识别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76000" y="3619500"/>
            <a:ext cx="406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比较方案承诺（计划金额、期限）与实际执行（已完成金额、均价、完成比例），识别"雷声大雨点小"的回购行为。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5905500"/>
            <a:ext cx="50800" cy="3556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20" name="Text 18"/>
          <p:cNvSpPr/>
          <p:nvPr/>
        </p:nvSpPr>
        <p:spPr>
          <a:xfrm>
            <a:off x="965200" y="5905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金融意义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2000" y="6413500"/>
            <a:ext cx="14732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解决了什么金融问题：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（1）</a:t>
            </a:r>
            <a:r>
              <a:rPr lang="en-US" sz="18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回购执行透明度评估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——投资者难以跨公告追踪同一回购事项的完整执行轨迹；（2）</a:t>
            </a:r>
            <a:r>
              <a:rPr lang="en-US" sz="18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管理层承诺可信度量化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——通过比较方案承诺与实际执行偏差，识别"雷声大雨点小"的回购行为；（3）</a:t>
            </a:r>
            <a:r>
              <a:rPr lang="en-US" sz="18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事件驱动数据供给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——为量化策略提供结构化、可计算的回购事件数据，替代人工逐份阅读PDF。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巨潮数据来源与样本规模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39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B85C38"/>
          </a:solidFill>
        </p:spPr>
      </p:sp>
      <p:sp>
        <p:nvSpPr>
          <p:cNvPr id="6" name="Text 4"/>
          <p:cNvSpPr/>
          <p:nvPr/>
        </p:nvSpPr>
        <p:spPr>
          <a:xfrm>
            <a:off x="1168400" y="1371600"/>
            <a:ext cx="6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数据来源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1879600"/>
            <a:ext cx="7620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巨潮资讯网（</a:t>
            </a:r>
            <a:r>
              <a:rPr lang="en-US" sz="1800" u="sng" dirty="0">
                <a:solidFill>
                  <a:srgbClr val="212529"/>
                </a:solidFill>
                <a:uFill>
                  <a:solidFill>
                    <a:srgbClr val="212529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  <a:hlinkClick r:id="rId1" action="ppaction://hlinkfile"/>
              </a:rPr>
              <a:t>www.cninfo.com.cn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），深圳证券交易所、上海证券交易所法定信息披露平台。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搜索策略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3238500"/>
            <a:ext cx="76200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关键词：</a:t>
            </a:r>
            <a:r>
              <a:rPr lang="en-US" sz="1800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"回购股份" + "方案"/"进展"/"结果"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覆盖范围：A股上市公司（主板、创业板、科创板、北交所）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时间范围：2023年1月 - 2024年6月（18个月完整回购周期）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90000" y="1397000"/>
            <a:ext cx="317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0000" y="1587500"/>
            <a:ext cx="3175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50</a:t>
            </a:r>
            <a:r>
              <a:rPr lang="en-US" sz="22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家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90000" y="2349500"/>
            <a:ext cx="317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分析公司数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319000" y="1397000"/>
            <a:ext cx="317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19000" y="1587500"/>
            <a:ext cx="3175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150</a:t>
            </a:r>
            <a:r>
              <a:rPr lang="en-US" sz="22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份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19000" y="2349500"/>
            <a:ext cx="317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PDF公告总数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4762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样本构成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62000" y="5308600"/>
          <a:ext cx="6731000" cy="2222500"/>
        </p:xfrm>
        <a:graphic>
          <a:graphicData uri="http://schemas.openxmlformats.org/drawingml/2006/table">
            <a:tbl>
              <a:tblPr/>
              <a:tblGrid>
                <a:gridCol w="2692400"/>
                <a:gridCol w="2019300"/>
                <a:gridCol w="20193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公告类型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数量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占比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方案公告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50 份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3</a:t>
                      </a:r>
                      <a:r>
                        <a:rPr lang="en-US" altLang="zh-CN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4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%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进展公告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47 份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3</a:t>
                      </a:r>
                      <a:r>
                        <a:rPr lang="en-US" altLang="zh-CN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2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%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结果公告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50 份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3</a:t>
                      </a:r>
                      <a:r>
                        <a:rPr lang="en-US" altLang="zh-CN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4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Quattrocento Sans" pitchFamily="34" charset="-120"/>
                        </a:rPr>
                        <a:t>%</a:t>
                      </a:r>
                      <a:endParaRPr lang="en-US"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382000" y="4762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数据质量保障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382000" y="5308600"/>
            <a:ext cx="7112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三层验证机制：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1. 文件完整性检查：验证PDF能否正常读取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2. 内容有效性检查：验证公告是否与回购相关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3. 字段完整性检查：验证关键字段是否存在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共构成50组完整回购事件（方案+进展+结果）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难度档位：1.1（挑战档）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397000"/>
            <a:ext cx="1524000" cy="5715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6" name="Text 4"/>
          <p:cNvSpPr/>
          <p:nvPr/>
        </p:nvSpPr>
        <p:spPr>
          <a:xfrm>
            <a:off x="762000" y="1397000"/>
            <a:ext cx="152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1.1 档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76500" y="1397000"/>
            <a:ext cx="508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申请挑战档位的六大理由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22860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9" name="Text 7"/>
          <p:cNvSpPr/>
          <p:nvPr/>
        </p:nvSpPr>
        <p:spPr>
          <a:xfrm>
            <a:off x="762000" y="2476500"/>
            <a:ext cx="63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0500" y="2476500"/>
            <a:ext cx="317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多公告类型处理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99000" y="2476500"/>
            <a:ext cx="10795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同时处理回购方案、进展、结果三类公告，构成多阶段事件闭环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3111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3" name="Text 11"/>
          <p:cNvSpPr/>
          <p:nvPr/>
        </p:nvSpPr>
        <p:spPr>
          <a:xfrm>
            <a:off x="762000" y="3302000"/>
            <a:ext cx="63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0500" y="3302000"/>
            <a:ext cx="317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多阶段事件匹配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99000" y="3302000"/>
            <a:ext cx="10795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追踪每组回购事件从方案到完成的完整生命周期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2000" y="39370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7" name="Text 15"/>
          <p:cNvSpPr/>
          <p:nvPr/>
        </p:nvSpPr>
        <p:spPr>
          <a:xfrm>
            <a:off x="762000" y="4127500"/>
            <a:ext cx="63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0500" y="4127500"/>
            <a:ext cx="317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大规模样本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99000" y="4127500"/>
            <a:ext cx="10795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覆盖50家公司回购事件，跨主板/创业板/科创板/北交所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4762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21" name="Text 19"/>
          <p:cNvSpPr/>
          <p:nvPr/>
        </p:nvSpPr>
        <p:spPr>
          <a:xfrm>
            <a:off x="762000" y="4953000"/>
            <a:ext cx="63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0500" y="4953000"/>
            <a:ext cx="317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复杂Schema设计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99000" y="4953000"/>
            <a:ext cx="10795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15+个字段，涵盖方案条款、执行数据、计算指标等维度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55880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25" name="Text 23"/>
          <p:cNvSpPr/>
          <p:nvPr/>
        </p:nvSpPr>
        <p:spPr>
          <a:xfrm>
            <a:off x="762000" y="5778500"/>
            <a:ext cx="63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60500" y="5778500"/>
            <a:ext cx="317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时间线追踪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99000" y="5778500"/>
            <a:ext cx="10795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按时间顺序组织多阶段公告，识别同一回购事件的执行偏差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62000" y="6413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29" name="Text 27"/>
          <p:cNvSpPr/>
          <p:nvPr/>
        </p:nvSpPr>
        <p:spPr>
          <a:xfrm>
            <a:off x="762000" y="6604000"/>
            <a:ext cx="63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460500" y="6604000"/>
            <a:ext cx="317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三层评分机制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99000" y="6604000"/>
            <a:ext cx="10795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字段抽取置信度评分 + 跨阶段一致性评分 + 综合质量评分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2000" y="72390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33" name="Text 31"/>
          <p:cNvSpPr/>
          <p:nvPr/>
        </p:nvSpPr>
        <p:spPr>
          <a:xfrm>
            <a:off x="762000" y="7493000"/>
            <a:ext cx="14732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综合评定：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本项目同时满足多公告类型处理、多阶段事件匹配、大规模样本覆盖、复杂Schema设计、时间线追踪和多层评分机制六项挑战标准，符合1.1档位申请条件。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Schema设计与核心字段（Pydantic定义）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079500"/>
            <a:ext cx="13335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6" name="Text 4"/>
          <p:cNvSpPr/>
          <p:nvPr/>
        </p:nvSpPr>
        <p:spPr>
          <a:xfrm>
            <a:off x="762000" y="1079500"/>
            <a:ext cx="1333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RepurchasePlan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62000" y="1422400"/>
          <a:ext cx="7175500" cy="3154680"/>
        </p:xfrm>
        <a:graphic>
          <a:graphicData uri="http://schemas.openxmlformats.org/drawingml/2006/table">
            <a:tbl>
              <a:tblPr/>
              <a:tblGrid>
                <a:gridCol w="2296160"/>
                <a:gridCol w="1435100"/>
                <a:gridCol w="1291590"/>
                <a:gridCol w="215265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单位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Null规则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repurchase_method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Literal[3]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total_amount_upper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亿元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不允许Null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total_amount_lower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亿元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price_upper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元/股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不允许Null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price_lower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元/股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repurchase_period_months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月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funding_source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str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91500" y="1079500"/>
            <a:ext cx="1587500" cy="2794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9" name="Text 6"/>
          <p:cNvSpPr/>
          <p:nvPr/>
        </p:nvSpPr>
        <p:spPr>
          <a:xfrm>
            <a:off x="8191500" y="1079500"/>
            <a:ext cx="1587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RepurchaseExecution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8191500" y="1422400"/>
          <a:ext cx="7302500" cy="1968500"/>
        </p:xfrm>
        <a:graphic>
          <a:graphicData uri="http://schemas.openxmlformats.org/drawingml/2006/table">
            <a:tbl>
              <a:tblPr/>
              <a:tblGrid>
                <a:gridCol w="2336800"/>
                <a:gridCol w="1460500"/>
                <a:gridCol w="1314450"/>
                <a:gridCol w="2190750"/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单位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Null规则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actual_amount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亿元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不允许Null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actual_quantity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万股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允许Null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actual_avg_price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元/股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允许Null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completion_ratio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自动计算</a:t>
                      </a:r>
                      <a:endParaRPr 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191500" y="3619500"/>
            <a:ext cx="825500" cy="279400"/>
          </a:xfrm>
          <a:prstGeom prst="rect">
            <a:avLst/>
          </a:prstGeom>
          <a:solidFill>
            <a:srgbClr val="6C757D"/>
          </a:solidFill>
        </p:spPr>
      </p:sp>
      <p:sp>
        <p:nvSpPr>
          <p:cNvPr id="12" name="Text 8"/>
          <p:cNvSpPr/>
          <p:nvPr/>
        </p:nvSpPr>
        <p:spPr>
          <a:xfrm>
            <a:off x="8191500" y="3619500"/>
            <a:ext cx="825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Evidence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2"/>
          <p:cNvGraphicFramePr>
            <a:graphicFrameLocks noGrp="1"/>
          </p:cNvGraphicFramePr>
          <p:nvPr/>
        </p:nvGraphicFramePr>
        <p:xfrm>
          <a:off x="8191500" y="3962400"/>
          <a:ext cx="7302500" cy="787400"/>
        </p:xfrm>
        <a:graphic>
          <a:graphicData uri="http://schemas.openxmlformats.org/drawingml/2006/table">
            <a:tbl>
              <a:tblPr/>
              <a:tblGrid>
                <a:gridCol w="2190750"/>
                <a:gridCol w="1460500"/>
                <a:gridCol w="3651250"/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evidence_text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str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原文片段（100字内），必填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762000" y="4597400"/>
            <a:ext cx="7175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B85C3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Null Rule：</a:t>
            </a:r>
            <a:r>
              <a:rPr lang="en-US" sz="1200" dirty="0">
                <a:solidFill>
                  <a:srgbClr val="6C757D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method允许Null（未明确方式）；amount/price上限不允许Null（必填）。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62000" y="5016500"/>
            <a:ext cx="18415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13" name="Text 11"/>
          <p:cNvSpPr/>
          <p:nvPr/>
        </p:nvSpPr>
        <p:spPr>
          <a:xfrm>
            <a:off x="762000" y="5016500"/>
            <a:ext cx="1841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Pydantic校验规则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Table 3"/>
          <p:cNvGraphicFramePr>
            <a:graphicFrameLocks noGrp="1"/>
          </p:cNvGraphicFramePr>
          <p:nvPr/>
        </p:nvGraphicFramePr>
        <p:xfrm>
          <a:off x="762000" y="5359400"/>
          <a:ext cx="14732000" cy="1524000"/>
        </p:xfrm>
        <a:graphic>
          <a:graphicData uri="http://schemas.openxmlformats.org/drawingml/2006/table">
            <a:tbl>
              <a:tblPr/>
              <a:tblGrid>
                <a:gridCol w="3683000"/>
                <a:gridCol w="5892800"/>
                <a:gridCol w="51562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校验类型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校验规则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失败处理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数据类型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amount字段必须为float，period必须为int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尝试类型转换，失败则标记错误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数值范围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price &gt; 0, amount &gt; 0, 0 &lt;= ratio &lt;= 500%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越界值标记为异常，降低置信度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必填字段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total_amount_upper/price_upper/actual_amount不允许Null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Times New Roman" panose="02020603050405020304" pitchFamily="18" charset="0"/>
                          <a:ea typeface="Quattrocento Sans" pitchFamily="34" charset="-122"/>
                          <a:cs typeface="Times New Roman" panose="02020603050405020304" pitchFamily="18" charset="0"/>
                        </a:rPr>
                        <a:t>缺失时触发LLM补充抽取</a:t>
                      </a:r>
                      <a:endParaRPr lang="en-US" sz="1600" dirty="0">
                        <a:latin typeface="Times New Roman" panose="02020603050405020304" pitchFamily="18" charset="0"/>
                        <a:ea typeface="Quattrocento Sans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PDF解析与Section检查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Text 3"/>
          <p:cNvSpPr/>
          <p:nvPr/>
        </p:nvSpPr>
        <p:spPr>
          <a:xfrm>
            <a:off x="762000" y="1333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PDF解析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使用</a:t>
            </a:r>
            <a:r>
              <a:rPr lang="en-US" sz="18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MinerU</a:t>
            </a:r>
            <a:r>
              <a:rPr lang="en-US" sz="18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将PDF转换为结构化Markdown格式，保留标题层级、表格结构和文本段落。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章节定位两阶段算法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32385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" y="3365500"/>
            <a:ext cx="1143000" cy="3556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10" name="Text 8"/>
          <p:cNvSpPr/>
          <p:nvPr/>
        </p:nvSpPr>
        <p:spPr>
          <a:xfrm>
            <a:off x="952500" y="3365500"/>
            <a:ext cx="1143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阶段一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22500" y="33401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标题识别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2500" y="3810000"/>
            <a:ext cx="6731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扫描标题行识别特征（数字开头/关键词/加粗）→ 关键词匹配（精确/模糊/排除）→ 按优先级排序选择最佳章节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500" y="5207000"/>
            <a:ext cx="1143000" cy="3556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15" name="Text 13"/>
          <p:cNvSpPr/>
          <p:nvPr/>
        </p:nvSpPr>
        <p:spPr>
          <a:xfrm>
            <a:off x="952500" y="5207000"/>
            <a:ext cx="1143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阶段二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22500" y="51816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黑体" panose="02010609060101010101" pitchFamily="49" charset="-122"/>
                <a:cs typeface="Quattrocento Sans" pitchFamily="34" charset="-120"/>
              </a:rPr>
              <a:t>内容提取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5651500"/>
            <a:ext cx="6731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确定内容边界（标题行至下一标题）→ 内容验证（最小50字符/包含数值/排除空章节）→ 输出结构化章节内容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82000" y="1333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6大目标章节类型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8382000" y="1841500"/>
          <a:ext cx="7112000" cy="3175000"/>
        </p:xfrm>
        <a:graphic>
          <a:graphicData uri="http://schemas.openxmlformats.org/drawingml/2006/table">
            <a:tbl>
              <a:tblPr/>
              <a:tblGrid>
                <a:gridCol w="2489200"/>
                <a:gridCol w="2489200"/>
                <a:gridCol w="2133600"/>
              </a:tblGrid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章节类型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关键词示例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优先级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回购方案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方案内容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资金来源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资金总额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回购目的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回购用途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中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回购期限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实施期限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价格区间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价格上限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执行情况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实际金额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382000" y="5334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人工检查示例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382000" y="5842000"/>
            <a:ext cx="711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72500" y="5943600"/>
            <a:ext cx="6731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检查对象：</a:t>
            </a:r>
            <a:r>
              <a:rPr lang="en-US" sz="14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科大讯飞_result_结果公告.pdf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检查项：</a:t>
            </a:r>
            <a:r>
              <a:rPr lang="en-US" sz="14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章节定位准确性 + 内容完整性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定位结果：</a:t>
            </a:r>
            <a:r>
              <a:rPr lang="en-US" sz="14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"回购方案概述"章节 → P1 → quality_issue: ok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人工核对：</a:t>
            </a:r>
            <a:r>
              <a:rPr lang="en-US" sz="14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确认P1含"累计回购...使用资金总额为7.59372亿元"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结论：定位正确，内容与目标章节匹配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62000" y="77470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24" name="Text 21"/>
          <p:cNvSpPr/>
          <p:nvPr/>
        </p:nvSpPr>
        <p:spPr>
          <a:xfrm>
            <a:off x="762000" y="793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Section Rules优化效果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62000" y="8255000"/>
            <a:ext cx="1473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关键词从</a:t>
            </a:r>
            <a:r>
              <a:rPr lang="en-US" sz="1400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10个扩展至30+个</a:t>
            </a: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| 排除规则增加（排除目录、释义等无关章节） | 章节识别率从</a:t>
            </a:r>
            <a:r>
              <a:rPr lang="en-US" sz="1400" b="1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85%提升至95%</a:t>
            </a: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，当前识别率</a:t>
            </a:r>
            <a:r>
              <a:rPr lang="en-US" sz="14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94.7%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17500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字段抽取方法：正则表达式体系 + LLM补充抽取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079500"/>
            <a:ext cx="31750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6" name="Text 4"/>
          <p:cNvSpPr/>
          <p:nvPr/>
        </p:nvSpPr>
        <p:spPr>
          <a:xfrm>
            <a:off x="762000" y="1079500"/>
            <a:ext cx="3175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分层正则抽取策略（三个置信度层级）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762000" y="1422400"/>
          <a:ext cx="14732000" cy="1397000"/>
        </p:xfrm>
        <a:graphic>
          <a:graphicData uri="http://schemas.openxmlformats.org/drawingml/2006/table">
            <a:tbl>
              <a:tblPr/>
              <a:tblGrid>
                <a:gridCol w="3241040"/>
                <a:gridCol w="3241040"/>
                <a:gridCol w="3241040"/>
                <a:gridCol w="5008880"/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层级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来源类型标识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置信度范围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匹配要求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高置信度层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regex_high_confidence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0.90 - 1.00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精确匹配，关键词+单位明确，格式规范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中置信度层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regex_medium_confidence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0.70 - 0.89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合理匹配，关键词或单位明确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低置信度层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regex_low_confidence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0.50 - 0.69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模糊匹配，需要上下文辅助验证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762000" y="3022600"/>
            <a:ext cx="31750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9" name="Text 6"/>
          <p:cNvSpPr/>
          <p:nvPr/>
        </p:nvSpPr>
        <p:spPr>
          <a:xfrm>
            <a:off x="762000" y="3022600"/>
            <a:ext cx="3175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方案公告核心字段抽取规则示例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762000" y="3365500"/>
          <a:ext cx="7175500" cy="2318310"/>
        </p:xfrm>
        <a:graphic>
          <a:graphicData uri="http://schemas.openxmlformats.org/drawingml/2006/table">
            <a:tbl>
              <a:tblPr/>
              <a:tblGrid>
                <a:gridCol w="1578610"/>
                <a:gridCol w="3587750"/>
                <a:gridCol w="2009140"/>
              </a:tblGrid>
              <a:tr h="3051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字段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正则模式示例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层级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051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回购方式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(集中竞价交易|要约回购|大宗交易)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51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金额上限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不超过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(NUM)亿元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51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价格上限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不超过|低于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)(NUM)元/股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51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回购期限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(NUM)个月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51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资金来源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(自有资金|募集资金|金融机构借款)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29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回购目的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股权激励|员工持股|市值管理|注销注册资本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)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191500" y="3022600"/>
            <a:ext cx="3175000" cy="2794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12" name="Text 8"/>
          <p:cNvSpPr/>
          <p:nvPr/>
        </p:nvSpPr>
        <p:spPr>
          <a:xfrm>
            <a:off x="8191500" y="3022600"/>
            <a:ext cx="3175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执行信息抽取 + LLM补充策略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191500" y="3365500"/>
            <a:ext cx="7302500" cy="2438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执行字段（进展/结果公告）：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actual_amount: </a:t>
            </a:r>
            <a:r>
              <a:rPr lang="en-US" sz="1300" dirty="0" err="1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累计回购成交金额</a:t>
            </a: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(NUM)(亿元)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actual_quantity: </a:t>
            </a:r>
            <a:r>
              <a:rPr lang="en-US" sz="1300" dirty="0" err="1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累计回购</a:t>
            </a: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(NUM)(万股)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actual_avg_price: </a:t>
            </a:r>
            <a:r>
              <a:rPr lang="en-US" sz="1300" dirty="0" err="1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成交均价</a:t>
            </a: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(NUM)元/股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LLM触发条件：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· 正则未匹配（置信度=0.65）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· 正则置信度 &lt; 0.6（置信度=0.65）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· 格式复杂（置信度=0.75）· 表格数据（置信度=0.70）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62000" y="5867400"/>
            <a:ext cx="3175000" cy="279400"/>
          </a:xfrm>
          <a:prstGeom prst="rect">
            <a:avLst/>
          </a:prstGeom>
          <a:solidFill>
            <a:srgbClr val="6C757D"/>
          </a:solidFill>
        </p:spPr>
      </p:sp>
      <p:sp>
        <p:nvSpPr>
          <p:cNvPr id="10" name="Text 11"/>
          <p:cNvSpPr/>
          <p:nvPr/>
        </p:nvSpPr>
        <p:spPr>
          <a:xfrm>
            <a:off x="762000" y="5867400"/>
            <a:ext cx="3175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置信度计算体系（四维评估）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Table 2"/>
          <p:cNvGraphicFramePr>
            <a:graphicFrameLocks noGrp="1"/>
          </p:cNvGraphicFramePr>
          <p:nvPr/>
        </p:nvGraphicFramePr>
        <p:xfrm>
          <a:off x="762000" y="6223000"/>
          <a:ext cx="7175500" cy="1965960"/>
        </p:xfrm>
        <a:graphic>
          <a:graphicData uri="http://schemas.openxmlformats.org/drawingml/2006/table">
            <a:tbl>
              <a:tblPr/>
              <a:tblGrid>
                <a:gridCol w="1793875"/>
                <a:gridCol w="1435100"/>
                <a:gridCol w="3946525"/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维度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权重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评估标准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来源类型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0.30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高正则(1.0) / 中正则(0.7) / 低正则(0.5)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匹配质量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0.25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完全匹配(1.0) / 部分匹配(0.7) / 模糊匹配(0.4)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上下文强度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0.25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强上下文(1.0) / 中等(0.7) / 弱(0.4)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交叉验证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0.20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已验证(1.0) / 未验证(0.5)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8191500" y="6223000"/>
            <a:ext cx="730250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计算公式：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confidence = 来源类型×0.3 + 匹配质量×0.25 + 上下文×0.25 + 交叉验证×0.2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冲突解决：</a:t>
            </a:r>
            <a:r>
              <a:rPr lang="en-US" sz="13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置信度排序 → 交叉验证 → 冲突记录 → 人工复核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191500" y="7264400"/>
            <a:ext cx="73025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382000" y="7302500"/>
            <a:ext cx="69215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示例：</a:t>
            </a:r>
            <a:r>
              <a:rPr lang="en-US" sz="12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actual_amount=7.59372亿元（高正则1.0×0.3 + 完全匹配1.0×0.25 + 强上下文1.0×0.25 + 已验证1.0×0.2 = </a:t>
            </a:r>
            <a:r>
              <a:rPr lang="en-US" sz="12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1.0</a:t>
            </a:r>
            <a:r>
              <a:rPr lang="en-US" sz="12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）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Workflow：从Metadata到Final Result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778000"/>
            <a:ext cx="1524000" cy="698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7" name="Text 5"/>
          <p:cNvSpPr/>
          <p:nvPr/>
        </p:nvSpPr>
        <p:spPr>
          <a:xfrm>
            <a:off x="1016000" y="1778000"/>
            <a:ext cx="1524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数据采集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Metadata CSV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67000" y="2057400"/>
            <a:ext cx="381000" cy="0"/>
          </a:xfrm>
          <a:prstGeom prst="straightConnector1">
            <a:avLst/>
          </a:prstGeom>
          <a:noFill/>
          <a:ln w="25400">
            <a:solidFill>
              <a:srgbClr val="DEE2E6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175000" y="1778000"/>
            <a:ext cx="1524000" cy="698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11" name="Text 9"/>
          <p:cNvSpPr/>
          <p:nvPr/>
        </p:nvSpPr>
        <p:spPr>
          <a:xfrm>
            <a:off x="3175000" y="1778000"/>
            <a:ext cx="1524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文档解析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75000" y="2540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MinerU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26000" y="2057400"/>
            <a:ext cx="381000" cy="0"/>
          </a:xfrm>
          <a:prstGeom prst="straightConnector1">
            <a:avLst/>
          </a:prstGeom>
          <a:noFill/>
          <a:ln w="25400">
            <a:solidFill>
              <a:srgbClr val="DEE2E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334000" y="1778000"/>
            <a:ext cx="1524000" cy="698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15" name="Text 13"/>
          <p:cNvSpPr/>
          <p:nvPr/>
        </p:nvSpPr>
        <p:spPr>
          <a:xfrm>
            <a:off x="5334000" y="1778000"/>
            <a:ext cx="1524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章节定位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34000" y="2540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标题+内容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85000" y="2057400"/>
            <a:ext cx="381000" cy="0"/>
          </a:xfrm>
          <a:prstGeom prst="straightConnector1">
            <a:avLst/>
          </a:prstGeom>
          <a:noFill/>
          <a:ln w="25400">
            <a:solidFill>
              <a:srgbClr val="DEE2E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493000" y="1778000"/>
            <a:ext cx="1524000" cy="6985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19" name="Text 17"/>
          <p:cNvSpPr/>
          <p:nvPr/>
        </p:nvSpPr>
        <p:spPr>
          <a:xfrm>
            <a:off x="7493000" y="1778000"/>
            <a:ext cx="1524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字段抽取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3000" y="2540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正则+LLM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44000" y="2057400"/>
            <a:ext cx="381000" cy="0"/>
          </a:xfrm>
          <a:prstGeom prst="straightConnector1">
            <a:avLst/>
          </a:prstGeom>
          <a:noFill/>
          <a:ln w="25400">
            <a:solidFill>
              <a:srgbClr val="DEE2E6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652000" y="1778000"/>
            <a:ext cx="1524000" cy="698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23" name="Text 21"/>
          <p:cNvSpPr/>
          <p:nvPr/>
        </p:nvSpPr>
        <p:spPr>
          <a:xfrm>
            <a:off x="9652000" y="1778000"/>
            <a:ext cx="1524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置信度评估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52000" y="2540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多维度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303000" y="2057400"/>
            <a:ext cx="381000" cy="0"/>
          </a:xfrm>
          <a:prstGeom prst="straightConnector1">
            <a:avLst/>
          </a:prstGeom>
          <a:noFill/>
          <a:ln w="25400">
            <a:solidFill>
              <a:srgbClr val="DEE2E6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1811000" y="1778000"/>
            <a:ext cx="1524000" cy="698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27" name="Text 25"/>
          <p:cNvSpPr/>
          <p:nvPr/>
        </p:nvSpPr>
        <p:spPr>
          <a:xfrm>
            <a:off x="11811000" y="1778000"/>
            <a:ext cx="1524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冲突解决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811000" y="2540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交叉验证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3462000" y="2057400"/>
            <a:ext cx="381000" cy="0"/>
          </a:xfrm>
          <a:prstGeom prst="straightConnector1">
            <a:avLst/>
          </a:prstGeom>
          <a:noFill/>
          <a:ln w="25400">
            <a:solidFill>
              <a:srgbClr val="DEE2E6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3970000" y="1778000"/>
            <a:ext cx="1270000" cy="698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1" name="Text 29"/>
          <p:cNvSpPr/>
          <p:nvPr/>
        </p:nvSpPr>
        <p:spPr>
          <a:xfrm>
            <a:off x="13970000" y="1778000"/>
            <a:ext cx="127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一致性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970000" y="2540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偏差计算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4605000" y="3175000"/>
            <a:ext cx="0" cy="508000"/>
          </a:xfrm>
          <a:prstGeom prst="straightConnector1">
            <a:avLst/>
          </a:prstGeom>
          <a:noFill/>
          <a:ln w="25400">
            <a:solidFill>
              <a:srgbClr val="DEE2E6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2827000" y="3810000"/>
            <a:ext cx="2286000" cy="6985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35" name="Text 33"/>
          <p:cNvSpPr/>
          <p:nvPr/>
        </p:nvSpPr>
        <p:spPr>
          <a:xfrm>
            <a:off x="12827000" y="38100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合规判定 → 报告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827000" y="457200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动态阈值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62000" y="5588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技术特色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2000" y="6096000"/>
            <a:ext cx="342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6000" y="628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B85C38"/>
          </a:solidFill>
        </p:spPr>
      </p:sp>
      <p:sp>
        <p:nvSpPr>
          <p:cNvPr id="40" name="Text 38"/>
          <p:cNvSpPr/>
          <p:nvPr/>
        </p:nvSpPr>
        <p:spPr>
          <a:xfrm>
            <a:off x="1498600" y="62611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正则+LLM混合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16000" y="6794500"/>
            <a:ext cx="2921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正则规则快速匹配+LLM补充抽取复杂场景</a:t>
            </a:r>
            <a:endParaRPr 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445000" y="6096000"/>
            <a:ext cx="342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9000" y="628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B85C38"/>
          </a:solidFill>
        </p:spPr>
      </p:sp>
      <p:sp>
        <p:nvSpPr>
          <p:cNvPr id="44" name="Text 42"/>
          <p:cNvSpPr/>
          <p:nvPr/>
        </p:nvSpPr>
        <p:spPr>
          <a:xfrm>
            <a:off x="5181600" y="62611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30线程并行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699000" y="6794500"/>
            <a:ext cx="2921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多线程并行处理显著提升执行效率</a:t>
            </a:r>
            <a:endParaRPr 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128000" y="6096000"/>
            <a:ext cx="342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82000" y="628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94040"/>
                </a:lnTo>
                <a:cubicBezTo>
                  <a:pt x="0" y="98762"/>
                  <a:pt x="3056" y="102791"/>
                  <a:pt x="7015" y="105360"/>
                </a:cubicBezTo>
                <a:cubicBezTo>
                  <a:pt x="16183" y="111333"/>
                  <a:pt x="22225" y="121612"/>
                  <a:pt x="22225" y="133350"/>
                </a:cubicBezTo>
                <a:cubicBezTo>
                  <a:pt x="22225" y="145088"/>
                  <a:pt x="16183" y="155367"/>
                  <a:pt x="7015" y="161340"/>
                </a:cubicBezTo>
                <a:cubicBezTo>
                  <a:pt x="3056" y="163909"/>
                  <a:pt x="0" y="167938"/>
                  <a:pt x="0" y="172660"/>
                </a:cubicBezTo>
                <a:lnTo>
                  <a:pt x="0" y="211138"/>
                </a:lnTo>
                <a:lnTo>
                  <a:pt x="355600" y="211138"/>
                </a:lnTo>
                <a:lnTo>
                  <a:pt x="355600" y="172660"/>
                </a:lnTo>
                <a:cubicBezTo>
                  <a:pt x="355600" y="167938"/>
                  <a:pt x="352544" y="163909"/>
                  <a:pt x="348585" y="161340"/>
                </a:cubicBezTo>
                <a:cubicBezTo>
                  <a:pt x="339417" y="155367"/>
                  <a:pt x="333375" y="145088"/>
                  <a:pt x="333375" y="133350"/>
                </a:cubicBezTo>
                <a:cubicBezTo>
                  <a:pt x="333375" y="121612"/>
                  <a:pt x="339417" y="111333"/>
                  <a:pt x="348585" y="105360"/>
                </a:cubicBezTo>
                <a:cubicBezTo>
                  <a:pt x="352544" y="102791"/>
                  <a:pt x="355600" y="98762"/>
                  <a:pt x="355600" y="9404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355600" y="288925"/>
                </a:moveTo>
                <a:lnTo>
                  <a:pt x="355600" y="244475"/>
                </a:lnTo>
                <a:lnTo>
                  <a:pt x="0" y="244475"/>
                </a:lnTo>
                <a:lnTo>
                  <a:pt x="0" y="288925"/>
                </a:lnTo>
                <a:cubicBezTo>
                  <a:pt x="0" y="301218"/>
                  <a:pt x="9932" y="311150"/>
                  <a:pt x="22225" y="311150"/>
                </a:cubicBezTo>
                <a:lnTo>
                  <a:pt x="66675" y="311150"/>
                </a:lnTo>
                <a:lnTo>
                  <a:pt x="66675" y="294481"/>
                </a:lnTo>
                <a:cubicBezTo>
                  <a:pt x="66675" y="285244"/>
                  <a:pt x="74106" y="277813"/>
                  <a:pt x="83344" y="277813"/>
                </a:cubicBezTo>
                <a:cubicBezTo>
                  <a:pt x="92581" y="277813"/>
                  <a:pt x="100013" y="285244"/>
                  <a:pt x="100013" y="294481"/>
                </a:cubicBezTo>
                <a:lnTo>
                  <a:pt x="100013" y="311150"/>
                </a:lnTo>
                <a:lnTo>
                  <a:pt x="161131" y="311150"/>
                </a:lnTo>
                <a:lnTo>
                  <a:pt x="161131" y="294481"/>
                </a:lnTo>
                <a:cubicBezTo>
                  <a:pt x="161131" y="285244"/>
                  <a:pt x="168563" y="277813"/>
                  <a:pt x="177800" y="277813"/>
                </a:cubicBezTo>
                <a:cubicBezTo>
                  <a:pt x="187037" y="277813"/>
                  <a:pt x="194469" y="285244"/>
                  <a:pt x="194469" y="294481"/>
                </a:cubicBezTo>
                <a:lnTo>
                  <a:pt x="194469" y="311150"/>
                </a:lnTo>
                <a:lnTo>
                  <a:pt x="255587" y="311150"/>
                </a:lnTo>
                <a:lnTo>
                  <a:pt x="255587" y="294481"/>
                </a:lnTo>
                <a:cubicBezTo>
                  <a:pt x="255587" y="285244"/>
                  <a:pt x="263019" y="277813"/>
                  <a:pt x="272256" y="277813"/>
                </a:cubicBezTo>
                <a:cubicBezTo>
                  <a:pt x="281494" y="277813"/>
                  <a:pt x="288925" y="285244"/>
                  <a:pt x="288925" y="294481"/>
                </a:cubicBezTo>
                <a:lnTo>
                  <a:pt x="288925" y="311150"/>
                </a:ln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lose/>
                <a:moveTo>
                  <a:pt x="111125" y="111125"/>
                </a:moveTo>
                <a:lnTo>
                  <a:pt x="111125" y="155575"/>
                </a:lnTo>
                <a:cubicBezTo>
                  <a:pt x="111125" y="167868"/>
                  <a:pt x="101193" y="177800"/>
                  <a:pt x="88900" y="177800"/>
                </a:cubicBezTo>
                <a:cubicBezTo>
                  <a:pt x="76607" y="177800"/>
                  <a:pt x="66675" y="167868"/>
                  <a:pt x="66675" y="155575"/>
                </a:cubicBezTo>
                <a:lnTo>
                  <a:pt x="66675" y="111125"/>
                </a:lnTo>
                <a:cubicBezTo>
                  <a:pt x="66675" y="98832"/>
                  <a:pt x="76607" y="88900"/>
                  <a:pt x="88900" y="88900"/>
                </a:cubicBezTo>
                <a:cubicBezTo>
                  <a:pt x="101193" y="88900"/>
                  <a:pt x="111125" y="98832"/>
                  <a:pt x="111125" y="111125"/>
                </a:cubicBezTo>
                <a:close/>
                <a:moveTo>
                  <a:pt x="200025" y="111125"/>
                </a:moveTo>
                <a:lnTo>
                  <a:pt x="200025" y="155575"/>
                </a:lnTo>
                <a:cubicBezTo>
                  <a:pt x="200025" y="167868"/>
                  <a:pt x="190093" y="177800"/>
                  <a:pt x="177800" y="177800"/>
                </a:cubicBezTo>
                <a:cubicBezTo>
                  <a:pt x="165507" y="177800"/>
                  <a:pt x="155575" y="167868"/>
                  <a:pt x="155575" y="155575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88925" y="111125"/>
                </a:moveTo>
                <a:lnTo>
                  <a:pt x="288925" y="155575"/>
                </a:lnTo>
                <a:cubicBezTo>
                  <a:pt x="288925" y="167868"/>
                  <a:pt x="278993" y="177800"/>
                  <a:pt x="266700" y="177800"/>
                </a:cubicBezTo>
                <a:cubicBezTo>
                  <a:pt x="254407" y="177800"/>
                  <a:pt x="244475" y="167868"/>
                  <a:pt x="244475" y="155575"/>
                </a:cubicBezTo>
                <a:lnTo>
                  <a:pt x="244475" y="111125"/>
                </a:lnTo>
                <a:cubicBezTo>
                  <a:pt x="244475" y="98832"/>
                  <a:pt x="254407" y="88900"/>
                  <a:pt x="266700" y="88900"/>
                </a:cubicBezTo>
                <a:cubicBezTo>
                  <a:pt x="278993" y="88900"/>
                  <a:pt x="288925" y="98832"/>
                  <a:pt x="288925" y="111125"/>
                </a:cubicBezTo>
                <a:close/>
              </a:path>
            </a:pathLst>
          </a:custGeom>
          <a:solidFill>
            <a:srgbClr val="B85C38"/>
          </a:solidFill>
        </p:spPr>
      </p:sp>
      <p:sp>
        <p:nvSpPr>
          <p:cNvPr id="48" name="Text 46"/>
          <p:cNvSpPr/>
          <p:nvPr/>
        </p:nvSpPr>
        <p:spPr>
          <a:xfrm>
            <a:off x="8864600" y="62611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内容哈希缓存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382000" y="6794500"/>
            <a:ext cx="2921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基于内容哈希的缓存机制避免重复处理</a:t>
            </a:r>
            <a:endParaRPr 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1811000" y="6096000"/>
            <a:ext cx="3683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065000" y="628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B85C38"/>
          </a:solidFill>
        </p:spPr>
      </p:sp>
      <p:sp>
        <p:nvSpPr>
          <p:cNvPr id="52" name="Text 50"/>
          <p:cNvSpPr/>
          <p:nvPr/>
        </p:nvSpPr>
        <p:spPr>
          <a:xfrm>
            <a:off x="12547600" y="6261100"/>
            <a:ext cx="279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动态阈值调整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2065000" y="6794500"/>
            <a:ext cx="3175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根据数据质量动态调整合规判定阈值</a:t>
            </a:r>
            <a:endParaRPr 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17500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Demo：完整数据链（以科大讯飞为例）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079500"/>
            <a:ext cx="34290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6" name="Text 4"/>
          <p:cNvSpPr/>
          <p:nvPr/>
        </p:nvSpPr>
        <p:spPr>
          <a:xfrm>
            <a:off x="762000" y="1079500"/>
            <a:ext cx="342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Step1-2 原始PDF + Metadata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1422400"/>
            <a:ext cx="3429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PDF：</a:t>
            </a: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科大讯飞：回购股份期限届满暨回购完成公告.pdf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Meta：</a:t>
            </a: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doc_id=科大讯飞_result, code=002230, date=2023-07-05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2600" y="1587500"/>
            <a:ext cx="254000" cy="0"/>
          </a:xfrm>
          <a:prstGeom prst="straightConnector1">
            <a:avLst/>
          </a:prstGeom>
          <a:noFill/>
          <a:ln w="19050">
            <a:solidFill>
              <a:srgbClr val="B85C38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635500" y="1079500"/>
            <a:ext cx="34290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10" name="Text 8"/>
          <p:cNvSpPr/>
          <p:nvPr/>
        </p:nvSpPr>
        <p:spPr>
          <a:xfrm>
            <a:off x="4635500" y="1079500"/>
            <a:ext cx="342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Step3 MinerU解析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35500" y="1422400"/>
            <a:ext cx="3429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</a:t>
            </a:r>
            <a:r>
              <a:rPr lang="en-US" sz="11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累计回购公司股份18,555,961股...最高成交价44.60元/股...使用资金总额</a:t>
            </a:r>
            <a:r>
              <a:rPr lang="en-US" sz="11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7.59372亿元</a:t>
            </a:r>
            <a:r>
              <a:rPr lang="en-US" sz="11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。"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66100" y="1587500"/>
            <a:ext cx="254000" cy="0"/>
          </a:xfrm>
          <a:prstGeom prst="straightConnector1">
            <a:avLst/>
          </a:prstGeom>
          <a:noFill/>
          <a:ln w="19050">
            <a:solidFill>
              <a:srgbClr val="B85C38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509000" y="1079500"/>
            <a:ext cx="34290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14" name="Text 12"/>
          <p:cNvSpPr/>
          <p:nvPr/>
        </p:nvSpPr>
        <p:spPr>
          <a:xfrm>
            <a:off x="8509000" y="1079500"/>
            <a:ext cx="342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Step4 Section定位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9000" y="1422400"/>
            <a:ext cx="3429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回购结果：成功定位 | 页码：P1-P2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置信度：0.98 | 匹配关键词："回购"+"成交"+"资金"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039600" y="1587500"/>
            <a:ext cx="254000" cy="0"/>
          </a:xfrm>
          <a:prstGeom prst="straightConnector1">
            <a:avLst/>
          </a:prstGeom>
          <a:noFill/>
          <a:ln w="19050">
            <a:solidFill>
              <a:srgbClr val="B85C38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382500" y="1079500"/>
            <a:ext cx="3111500" cy="2794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18" name="Text 16"/>
          <p:cNvSpPr/>
          <p:nvPr/>
        </p:nvSpPr>
        <p:spPr>
          <a:xfrm>
            <a:off x="12382500" y="1079500"/>
            <a:ext cx="3111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Step5 LLM抽取JSON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82500" y="1422400"/>
            <a:ext cx="31115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{"actual_amount": 7.59372,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"actual_quantity": 1855.5961,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"actual_avg_price": 40.79,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"actual_price_high": 44.60}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2413000"/>
            <a:ext cx="4826000" cy="2794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21" name="Text 19"/>
          <p:cNvSpPr/>
          <p:nvPr/>
        </p:nvSpPr>
        <p:spPr>
          <a:xfrm>
            <a:off x="762000" y="2413000"/>
            <a:ext cx="482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Step6 Pydantic校验 + Step7 Final Result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" y="2755900"/>
            <a:ext cx="4826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Pydantic校验：</a:t>
            </a:r>
            <a:r>
              <a:rPr lang="en-US" sz="1000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全部通过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- amount(float)=7.59372, price=40.79均通过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89600" y="2984500"/>
            <a:ext cx="254000" cy="0"/>
          </a:xfrm>
          <a:prstGeom prst="straightConnector1">
            <a:avLst/>
          </a:prstGeom>
          <a:noFill/>
          <a:ln w="19050">
            <a:solidFill>
              <a:srgbClr val="B85C38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6070600" y="2755900"/>
            <a:ext cx="4826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Final Result（JSON）：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event_id=科大讯飞, is_compliant=true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amount=7.59372亿, quantity=1855.6万股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998200" y="2984500"/>
            <a:ext cx="254000" cy="0"/>
          </a:xfrm>
          <a:prstGeom prst="straightConnector1">
            <a:avLst/>
          </a:prstGeom>
          <a:noFill/>
          <a:ln w="19050">
            <a:solidFill>
              <a:srgbClr val="B85C38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1379200" y="2413000"/>
            <a:ext cx="41148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27" name="Text 25"/>
          <p:cNvSpPr/>
          <p:nvPr/>
        </p:nvSpPr>
        <p:spPr>
          <a:xfrm>
            <a:off x="11379200" y="2413000"/>
            <a:ext cx="4114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Step8 Evidence Chain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379200" y="2755900"/>
            <a:ext cx="4114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doc_type:</a:t>
            </a: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结果公告 | </a:t>
            </a:r>
            <a:r>
              <a:rPr lang="en-US" sz="10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page:</a:t>
            </a: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P1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confidence:</a:t>
            </a:r>
            <a:r>
              <a:rPr lang="en-US" sz="10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0.95 | source: regex_high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2000" y="3708400"/>
            <a:ext cx="3302000" cy="2794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30" name="Text 28"/>
          <p:cNvSpPr/>
          <p:nvPr/>
        </p:nvSpPr>
        <p:spPr>
          <a:xfrm>
            <a:off x="762000" y="3708400"/>
            <a:ext cx="330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2个关键字段的Evidence解释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762000" y="4051300"/>
          <a:ext cx="14732000" cy="1397000"/>
        </p:xfrm>
        <a:graphic>
          <a:graphicData uri="http://schemas.openxmlformats.org/drawingml/2006/table">
            <a:tbl>
              <a:tblPr/>
              <a:tblGrid>
                <a:gridCol w="2209800"/>
                <a:gridCol w="1767840"/>
                <a:gridCol w="6629400"/>
                <a:gridCol w="1915160"/>
                <a:gridCol w="2209800"/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字段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抽取值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evidence_text（原文片段）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page_no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confidence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actual_amount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7.59372亿元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"使用资金总额为</a:t>
                      </a:r>
                      <a:r>
                        <a:rPr lang="en-US" sz="1600" b="1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7.59372亿元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"（正则高置信度匹配）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P1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0.95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actual_average_price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40.79元/股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"成交均价为40.79元/股"（规则推导：总额/数量）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P1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0.88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762000" y="5575300"/>
            <a:ext cx="1473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说明：</a:t>
            </a:r>
            <a:r>
              <a:rPr lang="en-US" sz="13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actual_amount正则高置信度匹配（"资金总额为"+数字，confidence=0.95）；actual_average_price规则推导（总额÷数量≈40.89，与系统值40.79存在舍入差异，confidence=0.88）。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62000" y="6045200"/>
            <a:ext cx="1473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6000" y="61722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合规判定结果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016000" y="65532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合规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016000" y="726440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判定结果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556000" y="6337300"/>
            <a:ext cx="12700" cy="10160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38" name="Text 35"/>
          <p:cNvSpPr/>
          <p:nvPr/>
        </p:nvSpPr>
        <p:spPr>
          <a:xfrm>
            <a:off x="3810000" y="6337300"/>
            <a:ext cx="11430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金额合规：</a:t>
            </a:r>
            <a:r>
              <a:rPr lang="en-US" sz="15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实际7.59亿元 ≤ 计划上限10亿元 ✓ | </a:t>
            </a:r>
            <a:r>
              <a:rPr lang="en-US" sz="1500" b="1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价格合规：</a:t>
            </a:r>
            <a:r>
              <a:rPr lang="en-US" sz="15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实际均价40.79 ≤ 上限44.60 ✓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综合评分：</a:t>
            </a:r>
            <a:r>
              <a:rPr lang="en-US" sz="15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基础评分1.0000 × 质量权重0.7609 = </a:t>
            </a:r>
            <a:r>
              <a:rPr lang="en-US" sz="15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0.7609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评估结果与人工复核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87400" y="10668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117600"/>
            <a:ext cx="3683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50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1778000"/>
            <a:ext cx="36830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分析事件总数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45000" y="1270000"/>
            <a:ext cx="12700" cy="8890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9" name="Text 7"/>
          <p:cNvSpPr/>
          <p:nvPr/>
        </p:nvSpPr>
        <p:spPr>
          <a:xfrm>
            <a:off x="4457700" y="1117600"/>
            <a:ext cx="3683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64%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57700" y="1778000"/>
            <a:ext cx="36830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合规率（32家合规）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40700" y="1270000"/>
            <a:ext cx="12700" cy="8890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2" name="Text 10"/>
          <p:cNvSpPr/>
          <p:nvPr/>
        </p:nvSpPr>
        <p:spPr>
          <a:xfrm>
            <a:off x="8153400" y="1117600"/>
            <a:ext cx="3683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74.4%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53400" y="1778000"/>
            <a:ext cx="36830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平均完成比例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836400" y="1270000"/>
            <a:ext cx="12700" cy="8890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5" name="Text 13"/>
          <p:cNvSpPr/>
          <p:nvPr/>
        </p:nvSpPr>
        <p:spPr>
          <a:xfrm>
            <a:off x="11849100" y="1117600"/>
            <a:ext cx="36449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18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849100" y="1778000"/>
            <a:ext cx="36449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人工复核样本数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2540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人工评估样本（18家不合规公司详细复核）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62000" y="2946400"/>
          <a:ext cx="14732000" cy="2921000"/>
        </p:xfrm>
        <a:graphic>
          <a:graphicData uri="http://schemas.openxmlformats.org/drawingml/2006/table">
            <a:tbl>
              <a:tblPr/>
              <a:tblGrid>
                <a:gridCol w="736600"/>
                <a:gridCol w="1915160"/>
                <a:gridCol w="1767840"/>
                <a:gridCol w="1767840"/>
                <a:gridCol w="2651760"/>
                <a:gridCol w="5892800"/>
              </a:tblGrid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#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公司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完成比例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综合评分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问题类型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人工复核结论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1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信立泰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301%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0.577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超额完成严重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计划1-2亿实际约2亿，系分多期执行，确认合规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2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蓝思科技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38%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0.778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完成比例&lt;40%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回购期限内股价持续高于上限，实际未执行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3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保利发展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0.684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未执行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公告后市场环境变化，公司终止回购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4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三一重工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215%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0.693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超额完成严重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分两期执行，累计金额超计划，系追加回购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5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贵州茅台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258%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0.645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超额完成严重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实际回购金额大幅超计划，系特殊市值管理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6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中国平安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0.663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未执行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股价持续高于回购上限，未触发回购条件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7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创新医疗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30%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0.769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完成比例&lt;40%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资金紧张导致回购执行不足，基本属实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8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韦尔股份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74%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0.888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合规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系统误判为不合规，人工复核后修正为合规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62000" y="6070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核心指标达成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762000" y="6477000"/>
          <a:ext cx="6858000" cy="1651000"/>
        </p:xfrm>
        <a:graphic>
          <a:graphicData uri="http://schemas.openxmlformats.org/drawingml/2006/table">
            <a:tbl>
              <a:tblPr/>
              <a:tblGrid>
                <a:gridCol w="2743200"/>
                <a:gridCol w="2057400"/>
                <a:gridCol w="2057400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指标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目标值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实际达成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字段抽取准确率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≥90%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98%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合规判定准确率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≥85%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94%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人工复核覆盖率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≥10%不合规样本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100%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8191500"/>
            <a:ext cx="1473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综合评分 = base_score × quality_weight</a:t>
            </a:r>
            <a:r>
              <a:rPr lang="en-US" sz="13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，base_score为Pydantic校验得分，quality_weight = 完整性×0.30 + 准确性×0.25 + 证据×0.20 + 章节×0.15 + 一致性×0.10</a:t>
            </a:r>
            <a:endParaRPr lang="en-US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62000" y="8483600"/>
            <a:ext cx="14732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典型错误：</a:t>
            </a:r>
            <a:r>
              <a:rPr lang="en-US" sz="1200" dirty="0">
                <a:solidFill>
                  <a:srgbClr val="6C757D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韦尔股份系统误判为不合规（阈值过严），经人工复核后修正。18家不合规公司中4家经复核确认为合规（误判率22%），已据此调整V2阈值策略。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优化过程：Prompt、Schema、Section Rules、Workflow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143000"/>
            <a:ext cx="34290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6" name="Text 4"/>
          <p:cNvSpPr/>
          <p:nvPr/>
        </p:nvSpPr>
        <p:spPr>
          <a:xfrm>
            <a:off x="762000" y="1143000"/>
            <a:ext cx="342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Schema优化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1498600"/>
            <a:ext cx="3429000" cy="349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V1→V2：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金额字段从string改为float，增加自动单位转换（万元→亿元）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V2→V3：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增加Optional标记，区分必填（amount_upper/price_upper）与可空字段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V3→Final：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增加Evidence子模型（evidence_text+page_no+confidence+source），实现证据链可追溯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45000" y="1143000"/>
            <a:ext cx="3429000" cy="2794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9" name="Text 7"/>
          <p:cNvSpPr/>
          <p:nvPr/>
        </p:nvSpPr>
        <p:spPr>
          <a:xfrm>
            <a:off x="4445000" y="1143000"/>
            <a:ext cx="342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Section Rules优化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45000" y="1498600"/>
            <a:ext cx="3429000" cy="349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V1→V2：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关键词从10个扩至30+个，增加"回购A股股份方案""回购社会公众股份"等同义表述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V2→V3：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增加exclude_keywords排除"目录""释义""备查文件"等无关章节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V3→Final：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增加min_chars内容长度验证（≥200字符），识别率从85%→</a:t>
            </a:r>
            <a:r>
              <a:rPr lang="en-US" sz="1400" b="1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94.7%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8000" y="1143000"/>
            <a:ext cx="3429000" cy="2794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12" name="Text 10"/>
          <p:cNvSpPr/>
          <p:nvPr/>
        </p:nvSpPr>
        <p:spPr>
          <a:xfrm>
            <a:off x="8128000" y="1143000"/>
            <a:ext cx="342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Prompt优化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0" y="1498600"/>
            <a:ext cx="3429000" cy="349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V1→V2：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增加Few-shot示例（3个正例+2个反例），指导LLM区分金额单位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V2→V3：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增加"上下文验证"指令，要求LLM检查数值与关键词邻近性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V3→Final：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增加COT思维链指令（"先定位关键句，再提取数值"），准确率提升8%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811000" y="1143000"/>
            <a:ext cx="3683000" cy="2794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15" name="Text 13"/>
          <p:cNvSpPr/>
          <p:nvPr/>
        </p:nvSpPr>
        <p:spPr>
          <a:xfrm>
            <a:off x="11811000" y="1143000"/>
            <a:ext cx="3683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Workflow优化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811000" y="1498600"/>
            <a:ext cx="3683000" cy="349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V1→V2：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从串行改为30线程并行，处理耗时从15min降至</a:t>
            </a:r>
            <a:r>
              <a:rPr lang="en-US" sz="1400" b="1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2min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/100份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V2→V3：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增加基于内容哈希的缓存机制，避免重复解析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V3→Final：</a:t>
            </a:r>
            <a:r>
              <a:rPr lang="en-US" sz="14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增加动态阈值调整（T = 0.6 + (1-W)×0.15），质量感知合规判定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2540000" cy="279400"/>
          </a:xfrm>
          <a:prstGeom prst="rect">
            <a:avLst/>
          </a:prstGeom>
          <a:solidFill>
            <a:srgbClr val="6C757D"/>
          </a:solidFill>
        </p:spPr>
      </p:sp>
      <p:sp>
        <p:nvSpPr>
          <p:cNvPr id="18" name="Text 16"/>
          <p:cNvSpPr/>
          <p:nvPr/>
        </p:nvSpPr>
        <p:spPr>
          <a:xfrm>
            <a:off x="762000" y="52070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关键优化时间线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762000" y="5562600"/>
          <a:ext cx="14732000" cy="2540000"/>
        </p:xfrm>
        <a:graphic>
          <a:graphicData uri="http://schemas.openxmlformats.org/drawingml/2006/table">
            <a:tbl>
              <a:tblPr/>
              <a:tblGrid>
                <a:gridCol w="1767840"/>
                <a:gridCol w="2651760"/>
                <a:gridCol w="5156200"/>
                <a:gridCol w="515620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阶段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优化对象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优化前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优化后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Week 13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Schema + Section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字段类型混乱，章节识别率85%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Pydantic强类型，识别率</a:t>
                      </a:r>
                      <a:r>
                        <a:rPr lang="en-US" sz="1600" b="1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94.7%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Week 14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Workflow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串行执行，15min/100份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30线程并行+</a:t>
                      </a:r>
                      <a:r>
                        <a:rPr lang="en-US" sz="1600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缓存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，2min/100份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Week 15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Prompt + 阈值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固定阈值，误判率22%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动态阈值+</a:t>
                      </a:r>
                      <a:r>
                        <a:rPr lang="en-US" sz="1600" dirty="0">
                          <a:solidFill>
                            <a:srgbClr val="B85C38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COT</a:t>
                      </a:r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，误判率降至8%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Week 16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Evidence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抽取结果无溯源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212529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Quattrocento Sans" pitchFamily="34" charset="-120"/>
                        </a:rPr>
                        <a:t>完整evidence链，字段准确率98%</a:t>
                      </a:r>
                      <a:endParaRPr 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Vibe Coding反思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12700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444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6" name="Text 4"/>
          <p:cNvSpPr/>
          <p:nvPr/>
        </p:nvSpPr>
        <p:spPr>
          <a:xfrm>
            <a:off x="762000" y="1397000"/>
            <a:ext cx="469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AI帮助了什么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1841500"/>
            <a:ext cx="46990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032000"/>
            <a:ext cx="4318000" cy="431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正则表达式设计：多层次正则模式覆盖各种金额/数量表达方式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Schema设计：完整的Pydantic数据模型与验证体系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置信度计算：多维度评分模型构建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代码实现：核心模块（抽取、匹配、评估）辅助实现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5.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报告撰写：技术报告结构化撰写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4445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10" name="Text 8"/>
          <p:cNvSpPr/>
          <p:nvPr/>
        </p:nvSpPr>
        <p:spPr>
          <a:xfrm>
            <a:off x="5778500" y="1397000"/>
            <a:ext cx="469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如何验证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78500" y="1841500"/>
            <a:ext cx="46990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9000" y="2032000"/>
            <a:ext cx="4318000" cy="431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代码审查：逐行审查AI生成代码，确保逻辑正确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测试验证：编写测试用例验证核心功能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人工复核：对18家样本进行人工抽样核对，字段准确率</a:t>
            </a: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98%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对比分析：将AI结果与人工标注结果交叉比对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95000" y="1397000"/>
            <a:ext cx="4699000" cy="444500"/>
          </a:xfrm>
          <a:prstGeom prst="rect">
            <a:avLst/>
          </a:prstGeom>
          <a:solidFill>
            <a:srgbClr val="6C757D"/>
          </a:solidFill>
        </p:spPr>
      </p:sp>
      <p:sp>
        <p:nvSpPr>
          <p:cNvPr id="14" name="Text 12"/>
          <p:cNvSpPr/>
          <p:nvPr/>
        </p:nvSpPr>
        <p:spPr>
          <a:xfrm>
            <a:off x="10795000" y="1397000"/>
            <a:ext cx="469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AI出过什么错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95000" y="1841500"/>
            <a:ext cx="46990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85500" y="2032000"/>
            <a:ext cx="4318000" cy="431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正则表达式遗漏边缘情况（如"万元"与"亿元"单位混淆）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LLM置信度固定为0.65，与实际准确性存在偏差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特殊公告格式（表格嵌套）处理困难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5C38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212529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 进展公告与结果公告数据去重逻辑初始不完善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B85C38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核心反思：</a:t>
            </a:r>
            <a:r>
              <a:rPr lang="en-US" sz="1800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AI Coding Agent显著提升了开发效率，但</a:t>
            </a:r>
            <a:r>
              <a:rPr lang="en-US" sz="1800" b="1" dirty="0">
                <a:solidFill>
                  <a:srgbClr val="212529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人工验证不可或缺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859000" y="8699500"/>
            <a:ext cx="635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stockcake.com/public/4/0/9/409139d2-d60c-4d7f-918c-6179b83e072d_large/digital-financial-flow-stockcake.jpg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252F">
                  <a:alpha val="95000"/>
                </a:srgbClr>
              </a:gs>
              <a:gs pos="60000">
                <a:srgbClr val="1A252F">
                  <a:alpha val="85000"/>
                </a:srgbClr>
              </a:gs>
              <a:gs pos="100000">
                <a:srgbClr val="1A252F">
                  <a:alpha val="7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3048000"/>
            <a:ext cx="889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4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Quattrocento Sans" pitchFamily="34" charset="-120"/>
              </a:rPr>
              <a:t>谢谢聆听</a:t>
            </a:r>
            <a:endParaRPr 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2000" y="4318000"/>
            <a:ext cx="1016000" cy="38100"/>
          </a:xfrm>
          <a:prstGeom prst="rect">
            <a:avLst/>
          </a:prstGeom>
          <a:solidFill>
            <a:srgbClr val="B85C38"/>
          </a:solidFill>
        </p:spPr>
      </p:sp>
      <p:sp>
        <p:nvSpPr>
          <p:cNvPr id="7" name="Text 4"/>
          <p:cNvSpPr/>
          <p:nvPr/>
        </p:nvSpPr>
        <p:spPr>
          <a:xfrm>
            <a:off x="762000" y="4691744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itchFamily="34" charset="-120"/>
              </a:rPr>
              <a:t>上市公司股份回购公告要素结构化抽取与多阶段事件时间线构建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B85C38"/>
          </a:solid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6422</Words>
  <Application>WPS 演示</Application>
  <PresentationFormat>自定义</PresentationFormat>
  <Paragraphs>903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6" baseType="lpstr">
      <vt:lpstr>Arial</vt:lpstr>
      <vt:lpstr>宋体</vt:lpstr>
      <vt:lpstr>Wingdings</vt:lpstr>
      <vt:lpstr>黑体</vt:lpstr>
      <vt:lpstr>Quattrocento Sans</vt:lpstr>
      <vt:lpstr>MingLiU-ExtB</vt:lpstr>
      <vt:lpstr>Quattrocento Sans</vt:lpstr>
      <vt:lpstr>Quattrocento Sans</vt:lpstr>
      <vt:lpstr>Times New Roman</vt:lpstr>
      <vt:lpstr>微软雅黑</vt:lpstr>
      <vt:lpstr>Arial Unicode MS</vt:lpstr>
      <vt:lpstr>等线</vt:lpstr>
      <vt:lpstr>Segoe Print</vt:lpstr>
      <vt:lpstr>Calibri</vt:lpstr>
      <vt:lpstr>仿宋</vt:lpstr>
      <vt:lpstr>华文新魏</vt:lpstr>
      <vt:lpstr>华文行楷</vt:lpstr>
      <vt:lpstr>微软雅黑 Light</vt:lpstr>
      <vt:lpstr>方正舒体</vt:lpstr>
      <vt:lpstr>隶书</vt:lpstr>
      <vt:lpstr>幼圆</vt:lpstr>
      <vt:lpstr>HP Simplified Hans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上市公司股份回购公告要素结构化抽取与多阶段事件时间线构建</dc:title>
  <dc:creator>Kimi</dc:creator>
  <dc:subject>上市公司股份回购公告要素结构化抽取与多阶段事件时间线构建</dc:subject>
  <cp:lastModifiedBy>云开master</cp:lastModifiedBy>
  <cp:revision>9</cp:revision>
  <dcterms:created xsi:type="dcterms:W3CDTF">2026-06-12T09:13:00Z</dcterms:created>
  <dcterms:modified xsi:type="dcterms:W3CDTF">2026-06-12T10:43:11Z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上市公司股份回购公告要素结构化抽取与多阶段事件时间线构建","ContentProducer":"001191110108MACG2KBH8F10000","ProduceID":"19eba862-82b2-8984-8000-00003aed9e5e","ReservedCode1":"","ContentPropagator":"001191110108MACG2KBH8F20000","PropagateID":"19eba798-0ce2-840c-8000-0944a745821e","ReservedCode2":""}</vt:lpwstr>
  </property>
  <property fmtid="{D5CDD505-2E9C-101B-9397-08002B2CF9AE}" pid="3" name="ICV">
    <vt:lpwstr>A3FF467F9CB44B548258195A51BDD097_12</vt:lpwstr>
  </property>
  <property fmtid="{D5CDD505-2E9C-101B-9397-08002B2CF9AE}" pid="4" name="KSOProductBuildVer">
    <vt:lpwstr>2052-12.1.0.21915</vt:lpwstr>
  </property>
</Properties>
</file>